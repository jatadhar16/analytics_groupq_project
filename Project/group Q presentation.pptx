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E" sz="1100" b="0" i="0" u="none" strike="noStrike">
                <a:solidFill>
                  <a:srgbClr val="000000"/>
                </a:solidFill>
                <a:latin typeface="Arial"/>
              </a:rPr>
              <a:t>Feature Importance (Gini)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DD-4647-8AE5-8718974F831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ADD-4647-8AE5-8718974F831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ADD-4647-8AE5-8718974F831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ADD-4647-8AE5-8718974F831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ADD-4647-8AE5-8718974F831E}"/>
              </c:ext>
            </c:extLst>
          </c:dPt>
          <c:dPt>
            <c:idx val="5"/>
            <c:invertIfNegative val="0"/>
            <c:bubble3D val="0"/>
            <c:spPr>
              <a:solidFill>
                <a:srgbClr val="A8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DD-4647-8AE5-8718974F831E}"/>
              </c:ext>
            </c:extLst>
          </c:dPt>
          <c:dPt>
            <c:idx val="6"/>
            <c:invertIfNegative val="0"/>
            <c:bubble3D val="0"/>
            <c:spPr>
              <a:solidFill>
                <a:srgbClr val="A8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DD-4647-8AE5-8718974F831E}"/>
              </c:ext>
            </c:extLst>
          </c:dPt>
          <c:dPt>
            <c:idx val="7"/>
            <c:invertIfNegative val="0"/>
            <c:bubble3D val="0"/>
            <c:spPr>
              <a:solidFill>
                <a:srgbClr val="A8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ADD-4647-8AE5-8718974F831E}"/>
              </c:ext>
            </c:extLst>
          </c:dPt>
          <c:dPt>
            <c:idx val="8"/>
            <c:invertIfNegative val="0"/>
            <c:bubble3D val="0"/>
            <c:spPr>
              <a:solidFill>
                <a:srgbClr val="A8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ADD-4647-8AE5-8718974F831E}"/>
              </c:ext>
            </c:extLst>
          </c:dPt>
          <c:dPt>
            <c:idx val="9"/>
            <c:invertIfNegative val="0"/>
            <c:bubble3D val="0"/>
            <c:spPr>
              <a:solidFill>
                <a:srgbClr val="A8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ADD-4647-8AE5-8718974F831E}"/>
              </c:ext>
            </c:extLst>
          </c:dPt>
          <c:cat>
            <c:strRef>
              <c:f>Sheet1!$A$2:$A$11</c:f>
              <c:strCache>
                <c:ptCount val="10"/>
                <c:pt idx="0">
                  <c:v>Health Exp./Cap</c:v>
                </c:pt>
                <c:pt idx="1">
                  <c:v>Physicians/1k</c:v>
                </c:pt>
                <c:pt idx="2">
                  <c:v>Literacy Rate</c:v>
                </c:pt>
                <c:pt idx="3">
                  <c:v>GDP/Cap</c:v>
                </c:pt>
                <c:pt idx="4">
                  <c:v>Water Access</c:v>
                </c:pt>
                <c:pt idx="5">
                  <c:v>Immunisation</c:v>
                </c:pt>
                <c:pt idx="6">
                  <c:v>Urban Pop.</c:v>
                </c:pt>
                <c:pt idx="7">
                  <c:v>Hospital Beds</c:v>
                </c:pt>
                <c:pt idx="8">
                  <c:v>Obesity</c:v>
                </c:pt>
                <c:pt idx="9">
                  <c:v>Tobacco Use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0.21</c:v>
                </c:pt>
                <c:pt idx="1">
                  <c:v>0.182</c:v>
                </c:pt>
                <c:pt idx="2">
                  <c:v>0.151</c:v>
                </c:pt>
                <c:pt idx="3">
                  <c:v>0.121</c:v>
                </c:pt>
                <c:pt idx="4">
                  <c:v>9.8000000000000004E-2</c:v>
                </c:pt>
                <c:pt idx="5">
                  <c:v>7.0999999999999994E-2</c:v>
                </c:pt>
                <c:pt idx="6">
                  <c:v>5.8000000000000003E-2</c:v>
                </c:pt>
                <c:pt idx="7">
                  <c:v>4.7E-2</c:v>
                </c:pt>
                <c:pt idx="8">
                  <c:v>3.4000000000000002E-2</c:v>
                </c:pt>
                <c:pt idx="9">
                  <c:v>2.8000000000000001E-2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ADD-4647-8AE5-8718974F8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FFFFFF"/>
                </a:solidFill>
                <a:latin typeface="Arial"/>
              </a:rPr>
              <a:t>COVID-19 Cases &amp; Deaths per Million by Continent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Cases/M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Oceania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14200</c:v>
                </c:pt>
                <c:pt idx="1">
                  <c:v>130000</c:v>
                </c:pt>
                <c:pt idx="2">
                  <c:v>22000</c:v>
                </c:pt>
                <c:pt idx="3">
                  <c:v>98000</c:v>
                </c:pt>
                <c:pt idx="4">
                  <c:v>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D9-4BA8-B369-C7B7DBB49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Deaths/M</c:v>
                </c:pt>
              </c:strCache>
            </c:strRef>
          </c:tx>
          <c:spPr>
            <a:solidFill>
              <a:srgbClr val="EE426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Oceania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220</c:v>
                </c:pt>
                <c:pt idx="1">
                  <c:v>2900</c:v>
                </c:pt>
                <c:pt idx="2">
                  <c:v>300</c:v>
                </c:pt>
                <c:pt idx="3">
                  <c:v>1650</c:v>
                </c:pt>
                <c:pt idx="4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D9-4BA8-B369-C7B7DBB49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A8BB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1000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ARIMA(2,1,2) Life Expectancy Forecast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Ireland</c:v>
                </c:pt>
              </c:strCache>
            </c:strRef>
          </c:tx>
          <c:spPr>
            <a:ln w="381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2019</c:v>
                </c:pt>
                <c:pt idx="5">
                  <c:v>2022</c:v>
                </c:pt>
                <c:pt idx="6">
                  <c:v>2025</c:v>
                </c:pt>
                <c:pt idx="7">
                  <c:v>2028</c:v>
                </c:pt>
                <c:pt idx="8">
                  <c:v>2032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76.5</c:v>
                </c:pt>
                <c:pt idx="1">
                  <c:v>78.2</c:v>
                </c:pt>
                <c:pt idx="2">
                  <c:v>80.5</c:v>
                </c:pt>
                <c:pt idx="3">
                  <c:v>81.7</c:v>
                </c:pt>
                <c:pt idx="4">
                  <c:v>82.2</c:v>
                </c:pt>
                <c:pt idx="5">
                  <c:v>82.3</c:v>
                </c:pt>
                <c:pt idx="6">
                  <c:v>83</c:v>
                </c:pt>
                <c:pt idx="7">
                  <c:v>83.7</c:v>
                </c:pt>
                <c:pt idx="8">
                  <c:v>84.1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48-41B9-83E3-E589E64B85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Germany</c:v>
                </c:pt>
              </c:strCache>
            </c:strRef>
          </c:tx>
          <c:spPr>
            <a:ln w="38100" cap="flat">
              <a:solidFill>
                <a:srgbClr val="43A0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3A047"/>
              </a:solidFill>
              <a:ln w="9525" cap="flat">
                <a:solidFill>
                  <a:srgbClr val="43A047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2019</c:v>
                </c:pt>
                <c:pt idx="5">
                  <c:v>2022</c:v>
                </c:pt>
                <c:pt idx="6">
                  <c:v>2025</c:v>
                </c:pt>
                <c:pt idx="7">
                  <c:v>2028</c:v>
                </c:pt>
                <c:pt idx="8">
                  <c:v>2032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78.2</c:v>
                </c:pt>
                <c:pt idx="1">
                  <c:v>79.5</c:v>
                </c:pt>
                <c:pt idx="2">
                  <c:v>80.5</c:v>
                </c:pt>
                <c:pt idx="3">
                  <c:v>81</c:v>
                </c:pt>
                <c:pt idx="4">
                  <c:v>81.400000000000006</c:v>
                </c:pt>
                <c:pt idx="5">
                  <c:v>80.900000000000006</c:v>
                </c:pt>
                <c:pt idx="6">
                  <c:v>81.7</c:v>
                </c:pt>
                <c:pt idx="7">
                  <c:v>82.2</c:v>
                </c:pt>
                <c:pt idx="8">
                  <c:v>82.8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48-41B9-83E3-E589E64B85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Kenya</c:v>
                </c:pt>
              </c:strCache>
            </c:strRef>
          </c:tx>
          <c:spPr>
            <a:ln w="38100" cap="flat">
              <a:solidFill>
                <a:srgbClr val="E539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2019</c:v>
                </c:pt>
                <c:pt idx="5">
                  <c:v>2022</c:v>
                </c:pt>
                <c:pt idx="6">
                  <c:v>2025</c:v>
                </c:pt>
                <c:pt idx="7">
                  <c:v>2028</c:v>
                </c:pt>
                <c:pt idx="8">
                  <c:v>2032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53</c:v>
                </c:pt>
                <c:pt idx="1">
                  <c:v>56.5</c:v>
                </c:pt>
                <c:pt idx="2">
                  <c:v>61</c:v>
                </c:pt>
                <c:pt idx="3">
                  <c:v>64.5</c:v>
                </c:pt>
                <c:pt idx="4">
                  <c:v>66.2</c:v>
                </c:pt>
                <c:pt idx="5">
                  <c:v>66.7</c:v>
                </c:pt>
                <c:pt idx="6">
                  <c:v>67.8</c:v>
                </c:pt>
                <c:pt idx="7">
                  <c:v>69.400000000000006</c:v>
                </c:pt>
                <c:pt idx="8">
                  <c:v>71.2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148-41B9-83E3-E589E64B85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65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6217920" y="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Multi-Source End-to-End Analytics Pipeline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Vecha Jatadhar 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X25161261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Pravalika Revelli  X25135724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Marla Srija  X24295256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MSc Data Analytics  |  Semester 1, 2026/27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Analytics Programming &amp; Data Visualisation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868680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777240" y="868680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777240" y="86868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868680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&amp; Research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499616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777240" y="1499616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777240" y="1499616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1499616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Descriptions &amp; Sources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130552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777240" y="2130552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777240" y="213055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130552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&amp; Databases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761488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777240" y="2761488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777240" y="276148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2761488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 &amp; Data Preprocessing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868680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2" name="Shape 20"/>
          <p:cNvSpPr/>
          <p:nvPr/>
        </p:nvSpPr>
        <p:spPr>
          <a:xfrm>
            <a:off x="5074920" y="868680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5074920" y="86868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32120" y="868680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499616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5074920" y="1499616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5074920" y="1499616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1499616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Insights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74920" y="2130552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5074920" y="2130552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5074920" y="213055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32120" y="2130552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Demo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2761488"/>
            <a:ext cx="37490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5074920" y="2761488"/>
            <a:ext cx="384048" cy="521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5074920" y="276148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532120" y="2761488"/>
            <a:ext cx="3246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822960"/>
            <a:ext cx="7772400" cy="73152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777240" y="8229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gap between richest and poorest nations: 30+ years  (WHO, 2023)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7772400" cy="8686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822960" cy="86868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72768" y="173736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socioeconomic &amp; health-system factors are the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 of life expectancy globally?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7772400" cy="8686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822960" cy="868680"/>
          </a:xfrm>
          <a:prstGeom prst="rect">
            <a:avLst/>
          </a:prstGeom>
          <a:solidFill>
            <a:srgbClr val="F4D35E">
              <a:alpha val="80000"/>
            </a:srgbClr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27432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healthcare investment correlate with health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— and does it differ across income groups?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EE426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822960" cy="868680"/>
          </a:xfrm>
          <a:prstGeom prst="rect">
            <a:avLst/>
          </a:prstGeom>
          <a:solidFill>
            <a:srgbClr val="EE4266">
              <a:alpha val="80000"/>
            </a:srgbClr>
          </a:solidFill>
          <a:ln w="12700">
            <a:solidFill>
              <a:srgbClr val="EE426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374904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models cluster countries into meaningful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and forecast future life expectancy trends?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Datasets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263347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263347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85800" y="749808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WHO GHO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Team member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Vecha Jatadhar X25161261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2450592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Format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221284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Semi-structured JSON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54203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Volume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47,000+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9067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Key Indicators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24505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Life expectancy, Mortality,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Obesity, TB incidence, NCD rates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38728" y="749808"/>
            <a:ext cx="263347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 dirty="0"/>
          </a:p>
        </p:txBody>
      </p:sp>
      <p:sp>
        <p:nvSpPr>
          <p:cNvPr id="18" name="Shape 16"/>
          <p:cNvSpPr/>
          <p:nvPr/>
        </p:nvSpPr>
        <p:spPr>
          <a:xfrm>
            <a:off x="3538728" y="749808"/>
            <a:ext cx="263347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3538728" y="749808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World Bank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30168" y="13258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Team member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30168" y="155448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Pravalika Revelli  X25135724</a:t>
            </a:r>
          </a:p>
        </p:txBody>
      </p:sp>
      <p:sp>
        <p:nvSpPr>
          <p:cNvPr id="22" name="Shape 20"/>
          <p:cNvSpPr/>
          <p:nvPr/>
        </p:nvSpPr>
        <p:spPr>
          <a:xfrm>
            <a:off x="3630168" y="1920240"/>
            <a:ext cx="2450592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3630168" y="2011680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Format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30168" y="221284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Semi-structured JSON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30168" y="254203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Volume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30168" y="27432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38,000+ records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30168" y="309067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Key Indicators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30168" y="3291840"/>
            <a:ext cx="24505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GDP, Health expenditure,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Physicians, Hospital beds,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Literacy, Water access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91656" y="749808"/>
            <a:ext cx="263347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6391656" y="749808"/>
            <a:ext cx="263347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6391656" y="749808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disease.sh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83096" y="13258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Team member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83096" y="155448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Marla Srija  X24295256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83096" y="1920240"/>
            <a:ext cx="2450592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6483096" y="2011680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Format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83096" y="221284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JSON Snapshot + Timeline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83096" y="254203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Volume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83096" y="27432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192 countries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83096" y="309067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BCC"/>
                </a:solidFill>
              </a:rPr>
              <a:t>Key Indicators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83096" y="3291840"/>
            <a:ext cx="24505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COVID cases, Deaths, CFR,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Recovered, Vaccinations,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274"/>
                </a:solidFill>
              </a:rPr>
              <a:t>Global historical series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A6274"/>
                </a:solidFill>
              </a:rPr>
              <a:t>Total: 85,000+ records  |  185+ countries  |  2010–2022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508760" cy="150876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(JSON)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508760" cy="594360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WHO · World Bank · disease.sh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48840" y="1737360"/>
            <a:ext cx="6400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2532888" y="158191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1051560"/>
            <a:ext cx="1508760" cy="150876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2331720" y="10515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MongoDB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1720" y="1965960"/>
            <a:ext cx="1508760" cy="5943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2331720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Raw semi-structured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document store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0" y="1737360"/>
            <a:ext cx="6400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224528" y="158191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0" y="1051560"/>
            <a:ext cx="1508760" cy="150876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4023360" y="10515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ETL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23360" y="1965960"/>
            <a:ext cx="1508760" cy="594360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023360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Clean · Transform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Merge · Impute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32120" y="1737360"/>
            <a:ext cx="6400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5916168" y="158191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15000" y="1051560"/>
            <a:ext cx="1508760" cy="1508760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5715000" y="10515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15000" y="1965960"/>
            <a:ext cx="1508760" cy="594360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5715000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Structured analytics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relational schema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23760" y="1737360"/>
            <a:ext cx="6400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/>
          <p:nvPr/>
        </p:nvSpPr>
        <p:spPr>
          <a:xfrm>
            <a:off x="7607808" y="1581912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1051560"/>
            <a:ext cx="1508760" cy="1508760"/>
          </a:xfrm>
          <a:prstGeom prst="rect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7406640" y="105156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ML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06640" y="1965960"/>
            <a:ext cx="1508760" cy="594360"/>
          </a:xfrm>
          <a:prstGeom prst="rect">
            <a:avLst/>
          </a:prstGeom>
          <a:solidFill>
            <a:srgbClr val="7B1FA2">
              <a:alpha val="40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/>
          <p:nvPr/>
        </p:nvSpPr>
        <p:spPr>
          <a:xfrm>
            <a:off x="7406640" y="19659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sklearn · ARIMA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Streamlit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2834640"/>
            <a:ext cx="150876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B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/>
          <p:nvPr/>
        </p:nvSpPr>
        <p:spPr>
          <a:xfrm>
            <a:off x="640080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requests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Python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31720" y="2834640"/>
            <a:ext cx="150876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B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Text 34"/>
          <p:cNvSpPr/>
          <p:nvPr/>
        </p:nvSpPr>
        <p:spPr>
          <a:xfrm>
            <a:off x="2331720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pymongo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indexed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23360" y="2834640"/>
            <a:ext cx="150876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B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/>
          <p:nvPr/>
        </p:nvSpPr>
        <p:spPr>
          <a:xfrm>
            <a:off x="4023360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sqlalchemy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15000" y="2834640"/>
            <a:ext cx="150876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B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Text 38"/>
          <p:cNvSpPr/>
          <p:nvPr/>
        </p:nvSpPr>
        <p:spPr>
          <a:xfrm>
            <a:off x="5715000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psycopg2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SQL DDL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06640" y="2834640"/>
            <a:ext cx="150876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B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Text 40"/>
          <p:cNvSpPr/>
          <p:nvPr/>
        </p:nvSpPr>
        <p:spPr>
          <a:xfrm>
            <a:off x="7406640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scikit-learn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BBCC"/>
                </a:solidFill>
              </a:rPr>
              <a:t>Streamlit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" y="3566160"/>
            <a:ext cx="7863840" cy="29260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/>
          <p:nvPr/>
        </p:nvSpPr>
        <p:spPr>
          <a:xfrm>
            <a:off x="777240" y="3566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MongoDB: Schema-free storage preserves semi-structured JSON perfectly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3913632"/>
            <a:ext cx="7863840" cy="29260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/>
          <p:nvPr/>
        </p:nvSpPr>
        <p:spPr>
          <a:xfrm>
            <a:off x="777240" y="39136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PostgreSQL: Relational integrity + SQL for ML feature extraction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4261104"/>
            <a:ext cx="7863840" cy="29260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/>
          <p:nvPr/>
        </p:nvSpPr>
        <p:spPr>
          <a:xfrm>
            <a:off x="777240" y="42611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ETL: Continent-level median imputation (GBD methodology)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3886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7498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MongoDB  —  Non-Relational (Raw Layer)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886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914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68680" y="126187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who_health_indicators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47,000+ JSON documents with nested metadata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04872"/>
            <a:ext cx="3886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685800" y="2404872"/>
            <a:ext cx="914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868680" y="2432304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worldbank_indicators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38,000+ JSON docs, paginated API responses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575304"/>
            <a:ext cx="3886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914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868680" y="3602736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disease_statistics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192 country snapshots with COVID timelines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6634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274"/>
                </a:solidFill>
              </a:rPr>
              <a:t>Why MongoDB? Schema-less → preserves raw semi-structured JSON without upfront normalisation. Compound indexes on (indicator_code, country_code, year) prevent duplicates.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749808"/>
            <a:ext cx="41148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4800600" y="749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 —  Relational (Analytics Layer)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2344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9144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4956048" y="12527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dim_country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ISO-3 code, name, continent, population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91109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4800600" y="1911096"/>
            <a:ext cx="9144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4956048" y="19293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fact_who_indicators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Long format, FK → dim_country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58775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4800600" y="2587752"/>
            <a:ext cx="9144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4956048" y="26060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fact_wb_indicators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Long format, FK → dim_country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26440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9" name="Shape 27"/>
          <p:cNvSpPr/>
          <p:nvPr/>
        </p:nvSpPr>
        <p:spPr>
          <a:xfrm>
            <a:off x="4800600" y="3264408"/>
            <a:ext cx="9144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4956048" y="32826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fact_disease_stats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COVID snapshot per country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94106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2" name="Shape 30"/>
          <p:cNvSpPr/>
          <p:nvPr/>
        </p:nvSpPr>
        <p:spPr>
          <a:xfrm>
            <a:off x="4800600" y="3941064"/>
            <a:ext cx="9144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4956048" y="39593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analysis_country_profiles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Integrated wide table for 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663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274"/>
                </a:solidFill>
              </a:rPr>
              <a:t>Why PostgreSQL? Foreign-key constraints ensure referential integrity. SQL interface integrates natively with pandas/SQLAlchemy/Streamlit.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Text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&amp;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77240"/>
            <a:ext cx="914400" cy="969264"/>
          </a:xfrm>
          <a:prstGeom prst="rect">
            <a:avLst/>
          </a:prstGeom>
          <a:solidFill>
            <a:srgbClr val="00A896">
              <a:alpha val="7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914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64208" y="777240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1737360" y="77724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PyMongo cursor queries → pandas DataFrames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64208" y="1069848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1737360" y="106984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85,000+ raw documents loaded into memory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64208" y="1362456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1737360" y="136245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Three separate collections extracted in parallel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194560"/>
            <a:ext cx="914400" cy="1554480"/>
          </a:xfrm>
          <a:prstGeom prst="rect">
            <a:avLst/>
          </a:prstGeom>
          <a:solidFill>
            <a:srgbClr val="F4D35E">
              <a:alpha val="75000"/>
            </a:srgbClr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64208" y="2194560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1737360" y="219456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ISO-3 code filtering (removes WHO regional aggregates)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64208" y="2487168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1737360" y="248716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pd.to_numeric(errors='coerce') for all numeric fields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64208" y="2779776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1737360" y="277977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Continent-level median imputation (GBD methodology)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64208" y="3072384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1737360" y="307238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Pivot: long-format → wide country profiles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64208" y="3364992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1737360" y="336499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Feature engineering: 3 composite indices (Min-Max scaled)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3611880"/>
            <a:ext cx="914400" cy="969264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914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64208" y="3611880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/>
          <p:nvPr/>
        </p:nvSpPr>
        <p:spPr>
          <a:xfrm>
            <a:off x="1737360" y="361188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SQLAlchemy to_sql() with method='multi' batch inserts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64208" y="3904488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1737360" y="390448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Truncate-and-reload pattern ensures idempotency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664208" y="4197096"/>
            <a:ext cx="7205472" cy="2560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/>
          <p:nvPr/>
        </p:nvSpPr>
        <p:spPr>
          <a:xfrm>
            <a:off x="1737360" y="419709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→  Cluster labels written back after ML step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1920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192024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85800" y="749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Clustering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9144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K=5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Purpose: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Segment countries into health profiles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706624"/>
            <a:ext cx="1737360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Config: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2999232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K=5 (Elbow validated)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PCA 2-D projection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Silhouette = 0.58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07208" y="749808"/>
            <a:ext cx="1920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2807208" y="749808"/>
            <a:ext cx="19202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2807208" y="749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0128" y="1280160"/>
            <a:ext cx="9144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3310128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R²=0.89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98648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Purpose: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98648" y="20848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Predict life expectancy + feature importance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98648" y="2706624"/>
            <a:ext cx="1737360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2898648" y="27980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Config: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98648" y="2999232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GridSearchCV optimised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max_depth=20, n=200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5-fold cross-validation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28616" y="749808"/>
            <a:ext cx="1920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4928616" y="749808"/>
            <a:ext cx="192024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4928616" y="749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Linear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31536" y="1280160"/>
            <a:ext cx="9144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5431536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R²=0.79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0056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Purpose: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0056" y="20848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Interpretable coefficients for policy insight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0056" y="2706624"/>
            <a:ext cx="1737360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5020056" y="27980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Config: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0056" y="2999232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Standardised predictors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t-statistics + p-values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Hypothesis testing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50024" y="749808"/>
            <a:ext cx="1920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7050024" y="749808"/>
            <a:ext cx="1920240" cy="868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35"/>
          <p:cNvSpPr/>
          <p:nvPr/>
        </p:nvSpPr>
        <p:spPr>
          <a:xfrm>
            <a:off x="7050024" y="7498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ARIMA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(2,1,2)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552944" y="1280160"/>
            <a:ext cx="9144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/>
          <p:nvPr/>
        </p:nvSpPr>
        <p:spPr>
          <a:xfrm>
            <a:off x="7552944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AIC opt.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41464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Purpose: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41464" y="20848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Project life expectancy trends to 2032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41464" y="2706624"/>
            <a:ext cx="1737360" cy="36576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/>
          <p:nvPr/>
        </p:nvSpPr>
        <p:spPr>
          <a:xfrm>
            <a:off x="7141464" y="27980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4A6274"/>
                </a:solidFill>
              </a:rPr>
              <a:t>Config: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41464" y="2999232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ADF stationarity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First differencing (d=1)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10-year forecast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Country Health Clusters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77240"/>
            <a:ext cx="8138160" cy="7315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6" name="Shape 4"/>
          <p:cNvSpPr/>
          <p:nvPr/>
        </p:nvSpPr>
        <p:spPr>
          <a:xfrm>
            <a:off x="731520" y="886968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731520" y="886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822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High-Income  —  USA, UK, Germany, Japan…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161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Life Exp: 80.2 yrs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161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GDP/cap: $42,100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161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8E5"/>
                </a:solidFill>
              </a:rPr>
              <a:t>Health Exp: $3,850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1600200"/>
            <a:ext cx="8138160" cy="7315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731520" y="1709928"/>
            <a:ext cx="502920" cy="5029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73152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Upper-Mid  —  Brazil, China, Mexico…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1984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Life Exp: 75.4 yrs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1984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GDP/cap: $12,300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984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</a:rPr>
              <a:t>Health Exp: $890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423160"/>
            <a:ext cx="8138160" cy="7315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731520" y="2532888"/>
            <a:ext cx="502920" cy="50292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73152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2468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Mid-Dev  —  India, Egypt, Vietnam…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2807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Life Exp: 70.1 yrs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2807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GDP/cap: $5,800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807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8C00"/>
                </a:solidFill>
              </a:rPr>
              <a:t>Health Exp: $340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8138160" cy="7315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8E24A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Shape 25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/>
          <p:nvPr/>
        </p:nvSpPr>
        <p:spPr>
          <a:xfrm>
            <a:off x="73152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Lower-Mid  —  Kenya, Ghana, Bolivia…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3630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Life Exp: 64.3 yrs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3630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GDP/cap: $2,100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630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24AA"/>
                </a:solidFill>
              </a:rPr>
              <a:t>Health Exp: $125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4069080"/>
            <a:ext cx="8138160" cy="7315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731520" y="4178808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73152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2588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Low-Income  —  Chad, Niger, CAR…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25880" y="4453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Life Exp: 57.8 yrs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4453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BCC"/>
                </a:solidFill>
              </a:rPr>
              <a:t>GDP/cap: $780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935"/>
                </a:solidFill>
              </a:rPr>
              <a:t>Health Exp: $42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4818888"/>
            <a:ext cx="8138160" cy="201168"/>
          </a:xfrm>
          <a:prstGeom prst="rect">
            <a:avLst/>
          </a:prstGeom>
          <a:solidFill>
            <a:srgbClr val="F4D35E">
              <a:alpha val="20000"/>
            </a:srgbClr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Text 39"/>
          <p:cNvSpPr/>
          <p:nvPr/>
        </p:nvSpPr>
        <p:spPr>
          <a:xfrm>
            <a:off x="777240" y="481888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4D35E"/>
                </a:solidFill>
              </a:rPr>
              <a:t>Key Insight: 98× difference in health expenditure produces 22-year life expectancy gap between Clusters 0 and 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105869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/>
          <p:nvPr/>
        </p:nvSpPr>
        <p:spPr>
          <a:xfrm>
            <a:off x="0" y="50977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Life Expectancy Predictors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19202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7498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0.89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749808"/>
            <a:ext cx="19202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2834640" y="7498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1.82 yrs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RMSE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0" y="749808"/>
            <a:ext cx="19202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983480" y="7498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1.31 yrs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749808"/>
            <a:ext cx="19202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7132320" y="7498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0.87 ± 0.03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3232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CV R²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85800" y="1783080"/>
          <a:ext cx="50292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897880" y="1783080"/>
            <a:ext cx="30175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6"/>
          <p:cNvSpPr/>
          <p:nvPr/>
        </p:nvSpPr>
        <p:spPr>
          <a:xfrm>
            <a:off x="598932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89320" y="226771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8"/>
          <p:cNvSpPr/>
          <p:nvPr/>
        </p:nvSpPr>
        <p:spPr>
          <a:xfrm>
            <a:off x="6199632" y="2231136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Health expenditure (0.21) is the single strongest predictor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2743200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0"/>
          <p:cNvSpPr/>
          <p:nvPr/>
        </p:nvSpPr>
        <p:spPr>
          <a:xfrm>
            <a:off x="6199632" y="2706624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Physicians per 1,000 (0.18) outperforms raw GDP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89320" y="321868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2"/>
          <p:cNvSpPr/>
          <p:nvPr/>
        </p:nvSpPr>
        <p:spPr>
          <a:xfrm>
            <a:off x="6199632" y="318211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Adult literacy (0.15) highlights human capital importance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89320" y="369417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4"/>
          <p:cNvSpPr/>
          <p:nvPr/>
        </p:nvSpPr>
        <p:spPr>
          <a:xfrm>
            <a:off x="6199632" y="36576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Result aligns with Sen's capability approach &amp; Wilkinson's SDH framework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989320" y="416966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6"/>
          <p:cNvSpPr/>
          <p:nvPr/>
        </p:nvSpPr>
        <p:spPr>
          <a:xfrm>
            <a:off x="6199632" y="41330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Top 3 features explain &gt;55% of model variance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Health Investment &amp; COVID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397764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777240" y="8046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Preston Curve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Pearson r = 0.81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BCC"/>
                </a:solidFill>
              </a:rPr>
              <a:t>Health Expenditure vs Life Expectancy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68249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Logarithmic relationship: returns are HIGHEST for low-income countries — doubling expenditure from $100→$200 yields more years of life than $2,000→$4,000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749808"/>
            <a:ext cx="397764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E426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937760" y="8046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4266"/>
                </a:solidFill>
              </a:rPr>
              <a:t>COVID-19 Paradox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1155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 = −0.31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3898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BCC"/>
                </a:solidFill>
              </a:rPr>
              <a:t>Health Expenditure vs Case Fatality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68249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Several high-income nations (USA, UK, Italy) showed higher CFRs than middle-income peers — explained by age demographics and reporting differences</a:t>
            </a:r>
            <a:endParaRPr lang="en-US" sz="10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85800" y="2834640"/>
          <a:ext cx="8138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4: Life Expectancy Forecasts (2032)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777240"/>
          <a:ext cx="5943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804672"/>
          <a:ext cx="3063240" cy="2011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2022 (actual)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2032 (forecast)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Ireland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82.3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84.1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+1.8 yrs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Germany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80.9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82.8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+1.9 yrs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Kenya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66.7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71.2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+4.5 yrs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03720" y="290779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4"/>
          <p:cNvSpPr/>
          <p:nvPr/>
        </p:nvSpPr>
        <p:spPr>
          <a:xfrm>
            <a:off x="6995160" y="2962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Model Details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995160" y="32918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ARIMA(2, 1, 2)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995160" y="35295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ADF p &gt; 0.05 → d=1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95160" y="376732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AIC minimised per country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995160" y="40050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Forecast CI: 95%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685800" y="4343400"/>
            <a:ext cx="813816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0"/>
          <p:cNvSpPr/>
          <p:nvPr/>
        </p:nvSpPr>
        <p:spPr>
          <a:xfrm>
            <a:off x="777240" y="43434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274"/>
                </a:solidFill>
              </a:rPr>
              <a:t>ADF stationarity test confirmed non-stationarity (p &gt; 0.05) for all series → first differencing applied. Kenya shows fastest growth due to child mortality reduction.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80467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877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1426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73736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KPIs, Preston curve, continent comparisons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07208" y="80467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2807208" y="877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98648" y="1426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World 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173736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Choropleth of any indicator across 185+ countries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28616" y="80467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4928616" y="877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0056" y="1426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 Spend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01768" y="173736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Preston curve, beds, physicians scatter plots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50024" y="80467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7050024" y="877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41464" y="1426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23176" y="173736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RF feature importance, actual vs predicted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272491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685800" y="27980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7240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" y="365760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PCA cluster scatter, box plots by cluster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07208" y="272491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2807208" y="27980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89864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Series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365760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Country trends + multi-country comparison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28616" y="272491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/>
          <p:nvPr/>
        </p:nvSpPr>
        <p:spPr>
          <a:xfrm>
            <a:off x="4928616" y="27980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020056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COVID-19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01768" y="365760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Continental impact, CFR vs expenditure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50024" y="2724912"/>
            <a:ext cx="192024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/>
          <p:nvPr/>
        </p:nvSpPr>
        <p:spPr>
          <a:xfrm>
            <a:off x="7050024" y="27980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141464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23176" y="3657600"/>
            <a:ext cx="17739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Full Pearson heatmap + ranked correlations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Run:  streamlit run dashboard/app.py  →  localhost:8501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858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4114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749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35331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749808" y="1353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" y="1225296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Health expenditure/capita is the strongest predictor of life expectancy (RF importance = 0.21, r = 0.81)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84708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749808" y="201168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749808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" y="1883664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Preston curve is logarithmic — highest ROI from health investment in low-income countries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250545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749808" y="26700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749808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" y="2542032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5 distinct health clusters identified; 22-year life expectancy gap between richest and poorest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16382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749808" y="3328416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749808" y="3328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" y="3200400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COVID CFR weakly correlated with health expenditure (r = −0.31) — demographic confounding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82219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749808" y="398678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749808" y="3986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" y="3858768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Ireland, Germany, and Kenya all trending upward toward 2032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749808"/>
            <a:ext cx="38404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/>
          <p:nvPr/>
        </p:nvSpPr>
        <p:spPr>
          <a:xfrm>
            <a:off x="5074920" y="749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74920" y="11887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5074920" y="1188720"/>
            <a:ext cx="91440" cy="804672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5230368" y="1225296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Causal Inference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1536192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Instrumental variables to disentangle health expenditure from GDP effects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1031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5074920" y="2103120"/>
            <a:ext cx="91440" cy="804672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5230368" y="2139696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Neural Forecasting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2450592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Temporal Fusion Transformer replacing ARIMA for better long-range forecasts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30175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5074920" y="3017520"/>
            <a:ext cx="91440" cy="804672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/>
          <p:nvPr/>
        </p:nvSpPr>
        <p:spPr>
          <a:xfrm>
            <a:off x="5230368" y="3054096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Streaming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3364992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Twitter/social media sentiment on health policies as live input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39319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5074920" y="3931920"/>
            <a:ext cx="91440" cy="804672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/>
          <p:nvPr/>
        </p:nvSpPr>
        <p:spPr>
          <a:xfrm>
            <a:off x="5230368" y="3968496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Cloud Architecture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30368" y="4279392"/>
            <a:ext cx="36027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AWS S3 + Redshift for real-time WHO surveillance updates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BCC"/>
                </a:solidFill>
              </a:rPr>
              <a:t>Global Health &amp; Disease Analytics  |  NCI MSc Data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1148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669280" y="36576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2286000" cy="2286000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Vecha Jatadhar —  X25161261
Pravalika Revelli  — 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X25135724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Marla Srija  —  X24295256
</a:t>
            </a:r>
            <a:r>
              <a:rPr lang="en-US" sz="12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WHO API → MongoDB → ETL → PostgreSQL → ML → Streamlit
Submission: 3rd May 2026  |  NCI MSc Data Analytics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Analytics Programming &amp; Data Visualisation  |  Semester 1, 2026/27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1541</Words>
  <Application>Microsoft Office PowerPoint</Application>
  <PresentationFormat>On-screen Show 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Health &amp; Disease Analytics</dc:title>
  <dc:subject>PptxGenJS Presentation</dc:subject>
  <dc:creator>Vecha Jatadhar | Pravalika Revelli | Marla Srija</dc:creator>
  <cp:lastModifiedBy>Jatadhar V</cp:lastModifiedBy>
  <cp:revision>2</cp:revision>
  <dcterms:created xsi:type="dcterms:W3CDTF">2026-04-20T10:33:04Z</dcterms:created>
  <dcterms:modified xsi:type="dcterms:W3CDTF">2026-04-24T17:34:25Z</dcterms:modified>
</cp:coreProperties>
</file>